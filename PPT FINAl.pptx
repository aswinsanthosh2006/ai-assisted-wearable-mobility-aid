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81" r:id="rId6"/>
    <p:sldId id="260" r:id="rId7"/>
    <p:sldId id="279" r:id="rId8"/>
    <p:sldId id="288" r:id="rId9"/>
    <p:sldId id="273" r:id="rId10"/>
    <p:sldId id="292" r:id="rId11"/>
    <p:sldId id="272" r:id="rId12"/>
    <p:sldId id="280" r:id="rId13"/>
    <p:sldId id="263" r:id="rId14"/>
    <p:sldId id="284" r:id="rId15"/>
    <p:sldId id="291" r:id="rId16"/>
    <p:sldId id="289" r:id="rId17"/>
    <p:sldId id="274" r:id="rId18"/>
    <p:sldId id="271" r:id="rId19"/>
    <p:sldId id="286" r:id="rId20"/>
    <p:sldId id="283" r:id="rId21"/>
    <p:sldId id="270" r:id="rId22"/>
    <p:sldId id="290" r:id="rId23"/>
    <p:sldId id="277" r:id="rId24"/>
    <p:sldId id="278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7AE553-5023-4C70-9053-B4021FFAB3E5}">
  <a:tblStyle styleId="{267AE553-5023-4C70-9053-B4021FFAB3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8" y="3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>
              <a:buSzPts val="12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ea typeface="Calibri"/>
                <a:sym typeface="Calibri"/>
              </a:rPr>
              <a:pPr algn="r">
                <a:buSzPts val="1200"/>
              </a:pPr>
              <a:t>‹#›</a:t>
            </a:fld>
            <a:endParaRPr lang="en-US" sz="1200" dirty="0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bfbec436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29bfbec436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Google Shape;157;g29bfbec4366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bfbec436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29bfbec436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Google Shape;157;g29bfbec4366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556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7" name="Google Shape;3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B9A1FCAE-4A30-1B2D-6900-50063089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>
            <a:extLst>
              <a:ext uri="{FF2B5EF4-FFF2-40B4-BE49-F238E27FC236}">
                <a16:creationId xmlns:a16="http://schemas.microsoft.com/office/drawing/2014/main" id="{DCB188EF-7684-3FF0-4958-14E58B355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7" name="Google Shape;357;p18:notes">
            <a:extLst>
              <a:ext uri="{FF2B5EF4-FFF2-40B4-BE49-F238E27FC236}">
                <a16:creationId xmlns:a16="http://schemas.microsoft.com/office/drawing/2014/main" id="{97C1CDB1-5E19-17A3-31DF-931E05FA5A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2405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" name="Google Shape;31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" name="Google Shape;31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2798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2edb20a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a2edb20ad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g2a2edb20ad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2edb20a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a2edb20ad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g2a2edb20ad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621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2edb20a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a2edb20ad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g2a2edb20ad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9836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2edb20a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a2edb20ad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g2a2edb20ad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1062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9" name="Google Shape;36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Google Shape;3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Google Shape;3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63108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Google Shape;25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56786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Google Shape;2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Google Shape;38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88064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Google Shape;39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6" name="Google Shape;40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1799433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N"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spd="med">
    <p:pull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/>
        </p:nvSpPr>
        <p:spPr>
          <a:xfrm>
            <a:off x="1822252" y="265725"/>
            <a:ext cx="689800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SAINTGITS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COLLEGE OF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(AUTONOMOUS)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2"/>
          <p:cNvSpPr/>
          <p:nvPr/>
        </p:nvSpPr>
        <p:spPr>
          <a:xfrm>
            <a:off x="3" y="6407690"/>
            <a:ext cx="7686676" cy="461665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571500" y="3"/>
            <a:ext cx="1152525" cy="1266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86" name="Google Shape;8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25" y="88460"/>
            <a:ext cx="956075" cy="109007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ctrTitle"/>
          </p:nvPr>
        </p:nvSpPr>
        <p:spPr>
          <a:xfrm>
            <a:off x="0" y="2111752"/>
            <a:ext cx="12192000" cy="304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Quattrocento Sans"/>
              <a:buNone/>
            </a:pPr>
            <a:r>
              <a:rPr lang="en-US" sz="5400" b="1" dirty="0">
                <a:ea typeface="Calibri" panose="020F0502020204030204" pitchFamily="34" charset="0"/>
                <a:sym typeface="Quattrocento Sans"/>
              </a:rPr>
              <a:t>END SEMESTER B.TECH </a:t>
            </a:r>
            <a:br>
              <a:rPr lang="en-US" sz="5400" b="1" dirty="0">
                <a:ea typeface="Calibri" panose="020F0502020204030204" pitchFamily="34" charset="0"/>
                <a:sym typeface="Quattrocento Sans"/>
              </a:rPr>
            </a:br>
            <a:r>
              <a:rPr lang="en-US" sz="5400" b="1" dirty="0">
                <a:ea typeface="Calibri" panose="020F0502020204030204" pitchFamily="34" charset="0"/>
                <a:sym typeface="Quattrocento Sans"/>
              </a:rPr>
              <a:t>MINI PROJECT</a:t>
            </a:r>
            <a:br>
              <a:rPr lang="en-US" sz="5400" dirty="0">
                <a:ea typeface="Calibri" panose="020F0502020204030204" pitchFamily="34" charset="0"/>
                <a:sym typeface="Quattrocento Sans"/>
              </a:rPr>
            </a:br>
            <a:br>
              <a:rPr lang="en-US" sz="5400" dirty="0">
                <a:ea typeface="Calibri" panose="020F0502020204030204" pitchFamily="34" charset="0"/>
                <a:sym typeface="Quattrocento Sans"/>
              </a:rPr>
            </a:b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sym typeface="Quattrocento Sans"/>
              </a:rPr>
              <a:t>FINAL EVALUATION</a:t>
            </a:r>
            <a:endParaRPr sz="4000" b="1" dirty="0">
              <a:solidFill>
                <a:srgbClr val="FF0000"/>
              </a:solidFill>
              <a:ea typeface="Calibri" panose="020F0502020204030204" pitchFamily="34" charset="0"/>
              <a:sym typeface="Quattrocento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3CD027-9514-78DA-0A01-E354F1D785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1822253" y="265725"/>
            <a:ext cx="438498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SAINTGITS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COLLEGE OF ENGINEERING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(AUTONOMOUS)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3" y="6407690"/>
            <a:ext cx="7686676" cy="461665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571500" y="3"/>
            <a:ext cx="1152525" cy="1266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25" y="88460"/>
            <a:ext cx="956075" cy="109007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379709" y="4300486"/>
            <a:ext cx="5091300" cy="15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Project Guide</a:t>
            </a: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Er. Anish M George</a:t>
            </a: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Assistant Professor (Senior)</a:t>
            </a: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</a:p>
        </p:txBody>
      </p:sp>
      <p:graphicFrame>
        <p:nvGraphicFramePr>
          <p:cNvPr id="98" name="Google Shape;98;p13"/>
          <p:cNvGraphicFramePr/>
          <p:nvPr>
            <p:extLst>
              <p:ext uri="{D42A27DB-BD31-4B8C-83A1-F6EECF244321}">
                <p14:modId xmlns:p14="http://schemas.microsoft.com/office/powerpoint/2010/main" val="2683958218"/>
              </p:ext>
            </p:extLst>
          </p:nvPr>
        </p:nvGraphicFramePr>
        <p:xfrm>
          <a:off x="379708" y="1825625"/>
          <a:ext cx="11368007" cy="1371620"/>
        </p:xfrm>
        <a:graphic>
          <a:graphicData uri="http://schemas.openxmlformats.org/drawingml/2006/table">
            <a:tbl>
              <a:tblPr>
                <a:noFill/>
                <a:tableStyleId>{267AE553-5023-4C70-9053-B4021FFAB3E5}</a:tableStyleId>
              </a:tblPr>
              <a:tblGrid>
                <a:gridCol w="269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2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b="1" u="none" strike="noStrike" cap="none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Quattrocento Sans"/>
                        </a:rPr>
                        <a:t>Project Area :</a:t>
                      </a:r>
                      <a:endParaRPr sz="2600" u="none" strike="noStrike" cap="none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Quattrocento Sans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Embedded AI for Assistive Applications</a:t>
                      </a:r>
                      <a:endParaRPr sz="2600" b="1" u="none" strike="noStrike" cap="none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Quattrocento Sans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b="1" u="none" strike="noStrike" cap="none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Quattrocento Sans"/>
                        </a:rPr>
                        <a:t>Proposed Project Title  </a:t>
                      </a:r>
                      <a:r>
                        <a:rPr lang="en-US" sz="2600" b="1" u="none" strike="noStrike" cap="none" dirty="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:</a:t>
                      </a:r>
                      <a:endParaRPr sz="1000" u="none" strike="noStrike" cap="none" dirty="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AI-Assisted Wearable Mobility Aid for Visually Impaired</a:t>
                      </a:r>
                      <a:endParaRPr sz="2600" b="1" u="none" strike="noStrike" cap="none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Quattrocento Sans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9" name="Google Shape;99;p13"/>
          <p:cNvSpPr txBox="1"/>
          <p:nvPr/>
        </p:nvSpPr>
        <p:spPr>
          <a:xfrm>
            <a:off x="6720993" y="4240911"/>
            <a:ext cx="3552548" cy="374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Quattrocento Sans"/>
              </a:rPr>
              <a:t>Details of Team Members</a:t>
            </a:r>
            <a:endParaRPr sz="2200" b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Quattrocento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7059043" y="4602596"/>
            <a:ext cx="5319252" cy="153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Afna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(MGP23ECE006)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Aswin S (MGP23ECE018)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Ebin Soyan Thomas(MGP23ECE020)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Juliya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Augustine (MGP23ECE033)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911499-5D5B-8686-601E-3855B81F5C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0809A-4BFF-0418-8581-72A06F5ED4CF}"/>
              </a:ext>
            </a:extLst>
          </p:cNvPr>
          <p:cNvSpPr txBox="1"/>
          <p:nvPr/>
        </p:nvSpPr>
        <p:spPr>
          <a:xfrm>
            <a:off x="1616054" y="1070149"/>
            <a:ext cx="8959893" cy="100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2CDDB-AF98-DA28-213C-C68420F40DB2}"/>
              </a:ext>
            </a:extLst>
          </p:cNvPr>
          <p:cNvSpPr txBox="1"/>
          <p:nvPr/>
        </p:nvSpPr>
        <p:spPr>
          <a:xfrm>
            <a:off x="1360714" y="2459334"/>
            <a:ext cx="9470572" cy="3825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IDENTIFICATION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SCOPE AND FOCUS OF THE PROJECT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CONSOLIDATION OF LITERATURE REVIEWS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COMPONENTS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BLOCK DIAGRAM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CIRCUIT DIAGRAM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 PROGRESS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TIMELINE OF PROJECT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MEMBER ROLES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CONCLUSIONS</a:t>
            </a:r>
          </a:p>
          <a:p>
            <a:pPr marL="400050" lvl="2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22" name="Google Shape;122;p14"/>
          <p:cNvSpPr txBox="1"/>
          <p:nvPr/>
        </p:nvSpPr>
        <p:spPr>
          <a:xfrm>
            <a:off x="884903" y="4893648"/>
            <a:ext cx="624796" cy="239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15225" rIns="15225" bIns="152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9DE89-4C0A-440A-B939-7082A47A6C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3" y="6537772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123748" y="105156"/>
            <a:ext cx="11698800" cy="7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3200" b="1" u="sng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Introduction</a:t>
            </a:r>
            <a:endParaRPr sz="3200" b="1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50" b="0" i="0" u="sng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56" name="Google Shape;156;p15"/>
          <p:cNvSpPr txBox="1">
            <a:spLocks noGrp="1"/>
          </p:cNvSpPr>
          <p:nvPr>
            <p:ph type="body" idx="1"/>
          </p:nvPr>
        </p:nvSpPr>
        <p:spPr>
          <a:xfrm>
            <a:off x="207722" y="682810"/>
            <a:ext cx="11614825" cy="472609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Visual impairment has been a major challenge for a long time, and the inability to perceive surroundings in real-time significantly affects safe and independent navigation.</a:t>
            </a:r>
          </a:p>
          <a:p>
            <a:r>
              <a:rPr lang="en-US" sz="2400" dirty="0"/>
              <a:t>Traditional mobility aids such as white canes can detect obstacles but cannot identify objects or provide detailed environmental information.</a:t>
            </a:r>
          </a:p>
          <a:p>
            <a:r>
              <a:rPr lang="en-US" sz="2400" dirty="0"/>
              <a:t>Lack of real-time object recognition increases the risk of accidents and limits the confidence of visually impaired individuals during movement.</a:t>
            </a:r>
          </a:p>
          <a:p>
            <a:r>
              <a:rPr lang="en-US" sz="2400" dirty="0"/>
              <a:t>The proposed system combines computer vision with ultrasonic sensing to improve obstacle awareness and environmental understanding.</a:t>
            </a:r>
          </a:p>
          <a:p>
            <a:r>
              <a:rPr lang="en-US" sz="2400" dirty="0"/>
              <a:t>This project aims to overcome these limitations by providing a low-cost, real-time assistive system using object detection and audio feedback.</a:t>
            </a:r>
          </a:p>
          <a:p>
            <a:pPr marL="635001" lvl="0" indent="-457247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50000"/>
              <a:buFont typeface="Arial"/>
              <a:buChar char="•"/>
            </a:pPr>
            <a:endParaRPr sz="2100" b="1" u="sng" dirty="0">
              <a:solidFill>
                <a:schemeClr val="dk1"/>
              </a:solidFill>
            </a:endParaRPr>
          </a:p>
          <a:p>
            <a:pPr marL="228593" lvl="0" indent="-50791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6749"/>
              <a:buFont typeface="Arial"/>
              <a:buNone/>
            </a:pPr>
            <a:endParaRPr sz="2352" dirty="0">
              <a:solidFill>
                <a:schemeClr val="dk1"/>
              </a:solidFill>
            </a:endParaRPr>
          </a:p>
          <a:p>
            <a:pPr marL="228593" lvl="0" indent="-50791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3993"/>
              <a:buFont typeface="Arial"/>
              <a:buNone/>
            </a:pPr>
            <a:endParaRPr sz="1590" dirty="0">
              <a:solidFill>
                <a:schemeClr val="dk1"/>
              </a:solidFill>
            </a:endParaRPr>
          </a:p>
          <a:p>
            <a:pPr marL="228594" lvl="0" indent="-50791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62893"/>
              <a:buNone/>
            </a:pPr>
            <a:endParaRPr sz="1590" b="1" u="sng" dirty="0">
              <a:solidFill>
                <a:schemeClr val="dk1"/>
              </a:solidFill>
            </a:endParaRPr>
          </a:p>
          <a:p>
            <a:pPr marL="228594" lvl="0" indent="-50791" algn="just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62893"/>
              <a:buNone/>
            </a:pPr>
            <a:endParaRPr sz="1590" dirty="0">
              <a:solidFill>
                <a:schemeClr val="dk1"/>
              </a:solidFill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9562756" y="6445108"/>
            <a:ext cx="16200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19158A-26E5-5E90-C855-72FF04BA8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81" y="4729292"/>
            <a:ext cx="2388754" cy="179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0587264-8C09-BBD1-288F-DBB1EB533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878" y="4751230"/>
            <a:ext cx="4841122" cy="174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FB4F1-C154-1741-4E36-54FD9CBA8F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3" y="6508276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369452" y="18299"/>
            <a:ext cx="11698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Scope and Focus of  the Project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130" name="Google Shape;130;p16"/>
          <p:cNvGrpSpPr/>
          <p:nvPr/>
        </p:nvGrpSpPr>
        <p:grpSpPr>
          <a:xfrm>
            <a:off x="1140344" y="1536699"/>
            <a:ext cx="9911313" cy="4117651"/>
            <a:chOff x="0" y="0"/>
            <a:chExt cx="8824267" cy="3724576"/>
          </a:xfrm>
        </p:grpSpPr>
        <p:sp>
          <p:nvSpPr>
            <p:cNvPr id="131" name="Google Shape;131;p16"/>
            <p:cNvSpPr/>
            <p:nvPr/>
          </p:nvSpPr>
          <p:spPr>
            <a:xfrm>
              <a:off x="3521502" y="0"/>
              <a:ext cx="5282400" cy="1164000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E0E0E0">
                <a:alpha val="89803"/>
              </a:srgbClr>
            </a:solidFill>
            <a:ln w="9525" cap="flat" cmpd="sng">
              <a:solidFill>
                <a:srgbClr val="E0E0E0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0" y="0"/>
              <a:ext cx="3521400" cy="11640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56817" y="56817"/>
              <a:ext cx="3408000" cy="105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64750" rIns="129525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n-US" sz="340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Times New Roman"/>
                </a:rPr>
                <a:t>Application Scenario</a:t>
              </a:r>
              <a:endParaRPr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3541867" y="1251847"/>
              <a:ext cx="5282400" cy="1164000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E0E0E0">
                <a:alpha val="89803"/>
              </a:srgbClr>
            </a:solidFill>
            <a:ln w="9525" cap="flat" cmpd="sng">
              <a:solidFill>
                <a:srgbClr val="E0E0E0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3578217" y="1520993"/>
              <a:ext cx="4845900" cy="87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t" anchorCtr="0">
              <a:noAutofit/>
            </a:bodyPr>
            <a:lstStyle/>
            <a:p>
              <a:pPr marL="114300" lvl="1" indent="-114300" algn="ctr">
                <a:lnSpc>
                  <a:spcPct val="90000"/>
                </a:lnSpc>
                <a:buSzPts val="1200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Embedded Systems, Computer Vision, and Machine Learning</a:t>
              </a:r>
              <a:r>
                <a:rPr lang="en-US" sz="240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Times New Roman"/>
                </a:rPr>
                <a:t>   </a:t>
              </a:r>
              <a:endParaRPr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0" y="1280288"/>
              <a:ext cx="3521400" cy="11640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56817" y="1337105"/>
              <a:ext cx="3408000" cy="105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64750" rIns="129525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n-US" sz="340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Times New Roman"/>
                </a:rPr>
                <a:t>Technology Sector</a:t>
              </a:r>
              <a:endParaRPr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3464677" y="2560576"/>
              <a:ext cx="5282400" cy="1164000"/>
            </a:xfrm>
            <a:prstGeom prst="rightArrow">
              <a:avLst>
                <a:gd name="adj1" fmla="val 75000"/>
                <a:gd name="adj2" fmla="val 50000"/>
              </a:avLst>
            </a:prstGeom>
            <a:solidFill>
              <a:srgbClr val="E0E0E0">
                <a:alpha val="89803"/>
              </a:srgbClr>
            </a:solidFill>
            <a:ln w="9525" cap="flat" cmpd="sng">
              <a:solidFill>
                <a:srgbClr val="E0E0E0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3405401" y="2780197"/>
              <a:ext cx="4845900" cy="87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t" anchorCtr="0">
              <a:noAutofit/>
            </a:bodyPr>
            <a:lstStyle/>
            <a:p>
              <a:pPr lvl="1" algn="ctr">
                <a:lnSpc>
                  <a:spcPct val="90000"/>
                </a:lnSpc>
                <a:buSzPts val="1200"/>
              </a:pP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Times New Roman"/>
                </a:rPr>
                <a:t>Real-time Assistive Navigation using Embedded AI, Sensor Fusion, and Audio Guidance</a:t>
              </a:r>
              <a:endParaRPr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2560576"/>
              <a:ext cx="3521400" cy="11640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56817" y="2617393"/>
              <a:ext cx="3408000" cy="105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64750" rIns="129525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lang="en-US" sz="340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Times New Roman"/>
                </a:rPr>
                <a:t>Main Focus</a:t>
              </a:r>
              <a:endParaRPr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3521400" y="356994"/>
              <a:ext cx="4845900" cy="87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00" tIns="7600" rIns="7600" bIns="7600" anchor="t" anchorCtr="0">
              <a:noAutofit/>
            </a:bodyPr>
            <a:lstStyle/>
            <a:p>
              <a:pPr marL="114300" lvl="1" indent="-114300" algn="ctr">
                <a:lnSpc>
                  <a:spcPct val="90000"/>
                </a:lnSpc>
                <a:buSzPts val="1200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Assistive Navigation for Visually Impaired Individuals</a:t>
              </a:r>
              <a:r>
                <a:rPr lang="en-US" sz="240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sym typeface="Times New Roman"/>
                </a:rPr>
                <a:t>   </a:t>
              </a:r>
              <a:endParaRPr sz="240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endParaRPr>
            </a:p>
          </p:txBody>
        </p:sp>
      </p:grpSp>
      <p:sp>
        <p:nvSpPr>
          <p:cNvPr id="143" name="Google Shape;143;p1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3" y="6527940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123748" y="105156"/>
            <a:ext cx="117444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Objectives </a:t>
            </a:r>
            <a:r>
              <a:rPr lang="en-US" sz="4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of  the Project</a:t>
            </a:r>
            <a:endParaRPr sz="4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67" name="Google Shape;167;p16"/>
          <p:cNvGrpSpPr/>
          <p:nvPr/>
        </p:nvGrpSpPr>
        <p:grpSpPr>
          <a:xfrm>
            <a:off x="1995196" y="1230424"/>
            <a:ext cx="8201608" cy="5095537"/>
            <a:chOff x="2360851" y="0"/>
            <a:chExt cx="5095537" cy="5095537"/>
          </a:xfrm>
        </p:grpSpPr>
        <p:sp>
          <p:nvSpPr>
            <p:cNvPr id="168" name="Google Shape;168;p16"/>
            <p:cNvSpPr/>
            <p:nvPr/>
          </p:nvSpPr>
          <p:spPr>
            <a:xfrm>
              <a:off x="2360851" y="0"/>
              <a:ext cx="5095537" cy="5095537"/>
            </a:xfrm>
            <a:prstGeom prst="diamond">
              <a:avLst/>
            </a:prstGeom>
            <a:solidFill>
              <a:srgbClr val="EE1C2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2743199" y="501802"/>
              <a:ext cx="2137535" cy="1987259"/>
            </a:xfrm>
            <a:prstGeom prst="roundRect">
              <a:avLst>
                <a:gd name="adj" fmla="val 16667"/>
              </a:avLst>
            </a:prstGeom>
            <a:solidFill>
              <a:srgbClr val="307BB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2840209" y="598812"/>
              <a:ext cx="1943515" cy="1793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Detect objects in real-time using camera-based vision</a:t>
              </a:r>
            </a:p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endParaRPr sz="24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4958463" y="501802"/>
              <a:ext cx="1987259" cy="1987259"/>
            </a:xfrm>
            <a:prstGeom prst="roundRect">
              <a:avLst>
                <a:gd name="adj" fmla="val 16667"/>
              </a:avLst>
            </a:prstGeom>
            <a:solidFill>
              <a:srgbClr val="307BB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5055473" y="598812"/>
              <a:ext cx="1793239" cy="1793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Identify objects using AI-based image processing</a:t>
              </a:r>
              <a:r>
                <a:rPr lang="en-US" sz="24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.</a:t>
              </a:r>
              <a:endParaRPr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2844927" y="2624201"/>
              <a:ext cx="1987259" cy="1987259"/>
            </a:xfrm>
            <a:prstGeom prst="roundRect">
              <a:avLst>
                <a:gd name="adj" fmla="val 16667"/>
              </a:avLst>
            </a:prstGeom>
            <a:solidFill>
              <a:srgbClr val="307BB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6"/>
            <p:cNvSpPr txBox="1"/>
            <p:nvPr/>
          </p:nvSpPr>
          <p:spPr>
            <a:xfrm>
              <a:off x="2941937" y="2721211"/>
              <a:ext cx="1793239" cy="1793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Provide audio feedback for safe navigation</a:t>
              </a:r>
              <a:endParaRPr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958463" y="2641927"/>
              <a:ext cx="1987259" cy="1987259"/>
            </a:xfrm>
            <a:prstGeom prst="roundRect">
              <a:avLst>
                <a:gd name="adj" fmla="val 16667"/>
              </a:avLst>
            </a:prstGeom>
            <a:solidFill>
              <a:srgbClr val="307BB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5055473" y="2721210"/>
              <a:ext cx="1793239" cy="1793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2400"/>
              </a:pPr>
              <a:r>
                <a:rPr lang="en-IN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Improve obstacle detection using sensor fusion and distance estimation</a:t>
              </a:r>
              <a:endParaRPr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F6E9D0-9179-9965-D7B2-C2D62169DA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/>
        </p:nvSpPr>
        <p:spPr>
          <a:xfrm>
            <a:off x="3" y="6691201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123748" y="105156"/>
            <a:ext cx="1169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0" y="0"/>
            <a:ext cx="11222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Consolidation of Literature Review in Phase 1</a:t>
            </a:r>
            <a:endParaRPr sz="40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163" name="Google Shape;163;p18"/>
          <p:cNvGraphicFramePr/>
          <p:nvPr>
            <p:extLst>
              <p:ext uri="{D42A27DB-BD31-4B8C-83A1-F6EECF244321}">
                <p14:modId xmlns:p14="http://schemas.microsoft.com/office/powerpoint/2010/main" val="1505820693"/>
              </p:ext>
            </p:extLst>
          </p:nvPr>
        </p:nvGraphicFramePr>
        <p:xfrm>
          <a:off x="356461" y="1116233"/>
          <a:ext cx="11091832" cy="509858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24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8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8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04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6143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S.NO</a:t>
                      </a:r>
                      <a:endParaRPr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LITERATURE REVIEW</a:t>
                      </a:r>
                      <a:endParaRPr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TYPE OF ALGORITHM</a:t>
                      </a:r>
                      <a:endParaRPr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EFFICIENCY OF PREDICTION</a:t>
                      </a:r>
                      <a:endParaRPr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13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1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Wearable Navigation Device for Visually Impaired People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SLAM + RGB-D + Semantic Segmentation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90%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71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2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Assistive Navigation Systems for Blind People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 sensing (GPS, IoT, Camera-based systems)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75%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811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3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Navigation Assistance for Visually Impaired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+ NAS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92%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C07198-B9A1-C0F5-26F1-408254BC6E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/>
        </p:nvSpPr>
        <p:spPr>
          <a:xfrm>
            <a:off x="3" y="6691201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123748" y="105156"/>
            <a:ext cx="1169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18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0" y="0"/>
            <a:ext cx="112221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Consolidation of Literature Review in Phase 2</a:t>
            </a:r>
            <a:endParaRPr sz="40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163" name="Google Shape;163;p18"/>
          <p:cNvGraphicFramePr/>
          <p:nvPr>
            <p:extLst>
              <p:ext uri="{D42A27DB-BD31-4B8C-83A1-F6EECF244321}">
                <p14:modId xmlns:p14="http://schemas.microsoft.com/office/powerpoint/2010/main" val="3091732576"/>
              </p:ext>
            </p:extLst>
          </p:nvPr>
        </p:nvGraphicFramePr>
        <p:xfrm>
          <a:off x="362195" y="1116233"/>
          <a:ext cx="11086098" cy="45971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08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1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9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91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S.NO</a:t>
                      </a:r>
                      <a:endParaRPr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LITERATURE REVIEW</a:t>
                      </a:r>
                      <a:endParaRPr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TYPE OF METHOD</a:t>
                      </a:r>
                      <a:endParaRPr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EFFICIENCY OF PREDICTION</a:t>
                      </a:r>
                      <a:endParaRPr sz="2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92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3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Object Detection using YOLO for Assistive Navigation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(YOLO)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90%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35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4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Sensor Based Navigation Aid for Visually Impaired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Sensing</a:t>
                      </a:r>
                      <a:endParaRPr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70%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35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5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Glasses for Visually Impaired with AI Detection</a:t>
                      </a:r>
                      <a:endParaRPr lang="en-US" sz="18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AI + Camera</a:t>
                      </a:r>
                      <a:endParaRPr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/>
                        </a:rPr>
                        <a:t>87%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42615379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599C2-FAC5-30E9-C847-4B7C8EB16A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345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>
            <a:spLocks noGrp="1"/>
          </p:cNvSpPr>
          <p:nvPr>
            <p:ph type="title"/>
          </p:nvPr>
        </p:nvSpPr>
        <p:spPr>
          <a:xfrm>
            <a:off x="220573" y="411770"/>
            <a:ext cx="5796605" cy="943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800" b="1" dirty="0"/>
              <a:t>Components</a:t>
            </a:r>
            <a:r>
              <a:rPr lang="en-US" sz="5400" b="1" dirty="0"/>
              <a:t> </a:t>
            </a:r>
            <a:r>
              <a:rPr lang="en-US" sz="4800" b="1" dirty="0"/>
              <a:t>Used</a:t>
            </a:r>
            <a:endParaRPr sz="4800" b="1" dirty="0"/>
          </a:p>
        </p:txBody>
      </p:sp>
      <p:sp>
        <p:nvSpPr>
          <p:cNvPr id="360" name="Google Shape;360;p29"/>
          <p:cNvSpPr txBox="1">
            <a:spLocks noGrp="1"/>
          </p:cNvSpPr>
          <p:nvPr>
            <p:ph type="body" idx="1"/>
          </p:nvPr>
        </p:nvSpPr>
        <p:spPr>
          <a:xfrm>
            <a:off x="220573" y="1557349"/>
            <a:ext cx="7593215" cy="406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HARDWARE COMPONENTS</a:t>
            </a:r>
          </a:p>
          <a:p>
            <a:pPr marL="114300" indent="0">
              <a:buNone/>
            </a:pPr>
            <a:r>
              <a:rPr lang="en-IN" sz="1900" dirty="0"/>
              <a:t>1      Raspberry Pi 4 (4.5k) </a:t>
            </a:r>
          </a:p>
          <a:p>
            <a:pPr marL="114300" indent="0">
              <a:buNone/>
            </a:pPr>
            <a:r>
              <a:rPr lang="en-IN" sz="1900" dirty="0"/>
              <a:t>2      USB Webcam</a:t>
            </a:r>
          </a:p>
          <a:p>
            <a:pPr marL="114300" indent="0">
              <a:buNone/>
            </a:pPr>
            <a:r>
              <a:rPr lang="en-IN" sz="1900" dirty="0"/>
              <a:t>3     Earphones (Audio Output) </a:t>
            </a:r>
          </a:p>
          <a:p>
            <a:pPr marL="571500" indent="-457200">
              <a:buAutoNum type="arabicPlain" startAt="4"/>
            </a:pPr>
            <a:r>
              <a:rPr lang="en-IN" sz="1900" dirty="0"/>
              <a:t>Power Supply / Power Bank (5000 </a:t>
            </a:r>
            <a:r>
              <a:rPr lang="en-IN" sz="1900" dirty="0" err="1"/>
              <a:t>mah</a:t>
            </a:r>
            <a:r>
              <a:rPr lang="en-IN" sz="1900" dirty="0"/>
              <a:t>)</a:t>
            </a:r>
          </a:p>
          <a:p>
            <a:pPr marL="571500" indent="-457200">
              <a:buAutoNum type="arabicPlain" startAt="4"/>
            </a:pPr>
            <a:r>
              <a:rPr lang="en-IN" sz="2000" dirty="0"/>
              <a:t>HC-SR04 Ultrasonic Sensor</a:t>
            </a:r>
          </a:p>
          <a:p>
            <a:pPr marL="571500" indent="-457200">
              <a:buAutoNum type="arabicPlain" startAt="4"/>
            </a:pPr>
            <a:r>
              <a:rPr lang="en-IN" sz="2000" dirty="0"/>
              <a:t>Voltage Divider Resistor Circuit (1k,2k)</a:t>
            </a:r>
            <a:endParaRPr lang="en-IN" sz="1900"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3200" dirty="0"/>
          </a:p>
        </p:txBody>
      </p:sp>
      <p:sp>
        <p:nvSpPr>
          <p:cNvPr id="362" name="Google Shape;362;p29"/>
          <p:cNvSpPr/>
          <p:nvPr/>
        </p:nvSpPr>
        <p:spPr>
          <a:xfrm>
            <a:off x="3" y="6508276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4" name="Picture 6" descr="Raspberry Pi 4B Board Layout, Pinout, I/O, Power, and Specifications">
            <a:extLst>
              <a:ext uri="{FF2B5EF4-FFF2-40B4-BE49-F238E27FC236}">
                <a16:creationId xmlns:a16="http://schemas.microsoft.com/office/drawing/2014/main" id="{7AC84712-B7FA-F5C2-07AA-7AD44B363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063" y="1086807"/>
            <a:ext cx="2496865" cy="187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2" descr="Opencv Vector SVG Icon - SVG Repo">
            <a:extLst>
              <a:ext uri="{FF2B5EF4-FFF2-40B4-BE49-F238E27FC236}">
                <a16:creationId xmlns:a16="http://schemas.microsoft.com/office/drawing/2014/main" id="{82C155A9-60B2-94B3-E781-A11FE4AA44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 descr="Logitech C920 1080P HD Webcam - tpstech.in">
            <a:extLst>
              <a:ext uri="{FF2B5EF4-FFF2-40B4-BE49-F238E27FC236}">
                <a16:creationId xmlns:a16="http://schemas.microsoft.com/office/drawing/2014/main" id="{9DD567DB-55BB-8D42-9D7A-833BE5FEA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106" y="1008536"/>
            <a:ext cx="1676166" cy="167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47869C-8D6C-54F7-6B63-FD2520A1D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 descr="Wired Stereo Earphones with 3.5mm Jack (1 Pc / 1.2m Cable)">
            <a:extLst>
              <a:ext uri="{FF2B5EF4-FFF2-40B4-BE49-F238E27FC236}">
                <a16:creationId xmlns:a16="http://schemas.microsoft.com/office/drawing/2014/main" id="{48D12328-B079-48B1-EA6F-BFC718917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420" y="3251795"/>
            <a:ext cx="1843007" cy="184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CWL-9610 Design HC SR 04 Ultrasonic Sensor&#10; – Indian Hobby Center">
            <a:extLst>
              <a:ext uri="{FF2B5EF4-FFF2-40B4-BE49-F238E27FC236}">
                <a16:creationId xmlns:a16="http://schemas.microsoft.com/office/drawing/2014/main" id="{A5783669-BFA2-5EB6-1B88-35C78D457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692" y="3353883"/>
            <a:ext cx="2213617" cy="2213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05E131AD-5C66-C691-ACFD-143B3561A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>
            <a:extLst>
              <a:ext uri="{FF2B5EF4-FFF2-40B4-BE49-F238E27FC236}">
                <a16:creationId xmlns:a16="http://schemas.microsoft.com/office/drawing/2014/main" id="{AD1065EE-3BA5-1937-8ED8-F30DD0451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748" y="374295"/>
            <a:ext cx="7222449" cy="943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800" b="1" dirty="0"/>
              <a:t>Components Used (</a:t>
            </a:r>
            <a:r>
              <a:rPr lang="en-US" sz="4800" b="1" dirty="0" err="1"/>
              <a:t>Contn</a:t>
            </a:r>
            <a:r>
              <a:rPr lang="en-US" sz="4800" b="1" dirty="0"/>
              <a:t>..)</a:t>
            </a:r>
            <a:endParaRPr sz="4800" b="1" dirty="0"/>
          </a:p>
        </p:txBody>
      </p:sp>
      <p:sp>
        <p:nvSpPr>
          <p:cNvPr id="362" name="Google Shape;362;p29">
            <a:extLst>
              <a:ext uri="{FF2B5EF4-FFF2-40B4-BE49-F238E27FC236}">
                <a16:creationId xmlns:a16="http://schemas.microsoft.com/office/drawing/2014/main" id="{FA402B14-8A0C-EC8D-3ABF-A4E2FC49AD47}"/>
              </a:ext>
            </a:extLst>
          </p:cNvPr>
          <p:cNvSpPr/>
          <p:nvPr/>
        </p:nvSpPr>
        <p:spPr>
          <a:xfrm>
            <a:off x="3" y="6508276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29">
            <a:extLst>
              <a:ext uri="{FF2B5EF4-FFF2-40B4-BE49-F238E27FC236}">
                <a16:creationId xmlns:a16="http://schemas.microsoft.com/office/drawing/2014/main" id="{259B2519-2DFC-7DF3-8605-9B86B690A0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FCD014F-81AA-9D04-0965-EBF8A88A6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08" y="1347457"/>
            <a:ext cx="5113731" cy="479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COMPONENTS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OS (Bookworm – 32-bit)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(Virtual Environment –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blind_env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 (Image Processing)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 (Object Detection)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SSD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COCO Model (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detect.tflite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File (labelmap.txt)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Library (pyttsx3 /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espeak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RPi.GPIO</a:t>
            </a:r>
            <a:endParaRPr lang="en-US" alt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Voting Algorithm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 Logic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40D97D42-63F4-6361-7FE4-CA97B2EEB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424" y="1236798"/>
            <a:ext cx="1121848" cy="112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2" descr="Opencv Vector SVG Icon - SVG Repo">
            <a:extLst>
              <a:ext uri="{FF2B5EF4-FFF2-40B4-BE49-F238E27FC236}">
                <a16:creationId xmlns:a16="http://schemas.microsoft.com/office/drawing/2014/main" id="{23F41C57-8792-E6F5-7175-19BC09A061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F715FB71-B254-8DBD-E385-54E61A93E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603" y="458581"/>
            <a:ext cx="1207144" cy="1486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See Online Workshop: Build an ML app for Android with TFLite at Google  Developer Groups GDG Chapel Hill">
            <a:extLst>
              <a:ext uri="{FF2B5EF4-FFF2-40B4-BE49-F238E27FC236}">
                <a16:creationId xmlns:a16="http://schemas.microsoft.com/office/drawing/2014/main" id="{336ECE1B-A4C3-0713-B243-FF7A75FCB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798" y="3368574"/>
            <a:ext cx="1301565" cy="137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9CEC1-9D0D-AA7E-5779-8C2D01D4FB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30851C-1EBF-6F63-4DB5-3F7C714CF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492" y="2428417"/>
            <a:ext cx="2526172" cy="126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bject detection with deep learning and OpenCV - PyImageSearch">
            <a:extLst>
              <a:ext uri="{FF2B5EF4-FFF2-40B4-BE49-F238E27FC236}">
                <a16:creationId xmlns:a16="http://schemas.microsoft.com/office/drawing/2014/main" id="{181190B3-C264-A792-F427-E94E22C6C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813" y="4174353"/>
            <a:ext cx="2282387" cy="209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26200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/>
          <p:nvPr/>
        </p:nvSpPr>
        <p:spPr>
          <a:xfrm>
            <a:off x="3" y="6527940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8CDC3B-09CA-02CA-B6D5-876CE5C49F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667FF2-AEAA-5EAE-4AA3-7985BE741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30" y="282096"/>
            <a:ext cx="10235513" cy="601072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>
            <a:spLocks noGrp="1"/>
          </p:cNvSpPr>
          <p:nvPr>
            <p:ph type="ctrTitle"/>
          </p:nvPr>
        </p:nvSpPr>
        <p:spPr>
          <a:xfrm>
            <a:off x="260555" y="260632"/>
            <a:ext cx="6247476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4400" b="1" dirty="0"/>
              <a:t>Circuit Diagram</a:t>
            </a:r>
            <a:endParaRPr sz="4400" b="1" dirty="0"/>
          </a:p>
        </p:txBody>
      </p:sp>
      <p:sp>
        <p:nvSpPr>
          <p:cNvPr id="319" name="Google Shape;319;p28"/>
          <p:cNvSpPr/>
          <p:nvPr/>
        </p:nvSpPr>
        <p:spPr>
          <a:xfrm>
            <a:off x="3" y="6527940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03C10-1BAD-E78E-CD02-7BB3BAB6A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F870A5-4146-4B08-4ED6-5D7967C4C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164" y="1013075"/>
            <a:ext cx="8549255" cy="509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42984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382105" y="1506740"/>
            <a:ext cx="11187379" cy="490689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continuously captures video frames and performs real-time object detection using TensorFlow Lite.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Bounding box analysis and center filtering are used to prioritize important obstacles.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Ultrasonic sensing is integrated for practical distance classification into near, medium, and far categories.</a:t>
            </a:r>
            <a:br>
              <a:rPr lang="en-US" dirty="0"/>
            </a:br>
            <a:endParaRPr lang="en-US" dirty="0"/>
          </a:p>
        </p:txBody>
      </p:sp>
      <p:sp>
        <p:nvSpPr>
          <p:cNvPr id="171" name="Google Shape;171;p1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3" y="6508276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69;p19">
            <a:extLst>
              <a:ext uri="{FF2B5EF4-FFF2-40B4-BE49-F238E27FC236}">
                <a16:creationId xmlns:a16="http://schemas.microsoft.com/office/drawing/2014/main" id="{E76B6FC7-2C93-4FAC-AF72-B8A42CD85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2105" y="411259"/>
            <a:ext cx="10515600" cy="80149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sym typeface="Times New Roman"/>
              </a:rPr>
              <a:t>Work Progress : Software Development</a:t>
            </a:r>
            <a:endParaRPr b="1" dirty="0">
              <a:ea typeface="Calibri" panose="020F0502020204030204" pitchFamily="34" charset="0"/>
              <a:sym typeface="Times New Roman"/>
            </a:endParaRPr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207069" y="1794129"/>
            <a:ext cx="11146731" cy="396045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 algn="just">
              <a:lnSpc>
                <a:spcPct val="100000"/>
              </a:lnSpc>
              <a:spcBef>
                <a:spcPts val="800"/>
              </a:spcBef>
              <a:buSzPct val="93000"/>
              <a:buFont typeface="Arial" panose="020B0604020202020204" pitchFamily="34" charset="0"/>
              <a:buChar char="•"/>
            </a:pPr>
            <a:r>
              <a:rPr lang="en-US" dirty="0"/>
              <a:t>A temporal voting mechanism is implemented to reduce false detections by validating repeated object detections within a finite time window.</a:t>
            </a:r>
          </a:p>
          <a:p>
            <a:pPr indent="-457200" algn="just">
              <a:lnSpc>
                <a:spcPct val="100000"/>
              </a:lnSpc>
              <a:spcBef>
                <a:spcPts val="800"/>
              </a:spcBef>
              <a:buSzPct val="93000"/>
              <a:buFont typeface="Arial" panose="020B0604020202020204" pitchFamily="34" charset="0"/>
              <a:buChar char="•"/>
            </a:pPr>
            <a:endParaRPr lang="en-US" dirty="0"/>
          </a:p>
          <a:p>
            <a:pPr indent="-457200" algn="just">
              <a:lnSpc>
                <a:spcPct val="100000"/>
              </a:lnSpc>
              <a:spcBef>
                <a:spcPts val="800"/>
              </a:spcBef>
              <a:buSzPct val="93000"/>
              <a:buFont typeface="Arial" panose="020B0604020202020204" pitchFamily="34" charset="0"/>
              <a:buChar char="•"/>
            </a:pPr>
            <a:r>
              <a:rPr lang="en-US" dirty="0"/>
              <a:t>Frame skipping and lightweight inference optimization improve real-time performance on Raspberry Pi 4.</a:t>
            </a:r>
          </a:p>
          <a:p>
            <a:pPr indent="-457200" algn="just">
              <a:lnSpc>
                <a:spcPct val="100000"/>
              </a:lnSpc>
              <a:spcBef>
                <a:spcPts val="800"/>
              </a:spcBef>
              <a:buSzPct val="93000"/>
              <a:buFont typeface="Arial" panose="020B0604020202020204" pitchFamily="34" charset="0"/>
              <a:buChar char="•"/>
            </a:pPr>
            <a:endParaRPr lang="en-US" dirty="0"/>
          </a:p>
          <a:p>
            <a:pPr indent="-457200" algn="just">
              <a:lnSpc>
                <a:spcPct val="100000"/>
              </a:lnSpc>
              <a:spcBef>
                <a:spcPts val="800"/>
              </a:spcBef>
              <a:buSzPct val="93000"/>
              <a:buFont typeface="Arial" panose="020B0604020202020204" pitchFamily="34" charset="0"/>
              <a:buChar char="•"/>
            </a:pPr>
            <a:r>
              <a:rPr lang="en-US" dirty="0"/>
              <a:t>A cooldown mechanism prevents repetitive audio announcements and improves user experience.</a:t>
            </a:r>
          </a:p>
          <a:p>
            <a:pPr marL="114300" indent="0" algn="just">
              <a:buNone/>
            </a:pPr>
            <a:endParaRPr lang="en-US" dirty="0">
              <a:ea typeface="Calibri" panose="020F0502020204030204" pitchFamily="34" charset="0"/>
              <a:sym typeface="Times New Roman"/>
            </a:endParaRPr>
          </a:p>
        </p:txBody>
      </p:sp>
      <p:sp>
        <p:nvSpPr>
          <p:cNvPr id="171" name="Google Shape;171;p19"/>
          <p:cNvSpPr txBox="1">
            <a:spLocks noGrp="1"/>
          </p:cNvSpPr>
          <p:nvPr>
            <p:ph type="sldNum" idx="12"/>
          </p:nvPr>
        </p:nvSpPr>
        <p:spPr>
          <a:xfrm>
            <a:off x="8610600" y="6375208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3" y="6508276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69;p19">
            <a:extLst>
              <a:ext uri="{FF2B5EF4-FFF2-40B4-BE49-F238E27FC236}">
                <a16:creationId xmlns:a16="http://schemas.microsoft.com/office/drawing/2014/main" id="{7EC5D90D-D123-456C-7CE3-C30D106CC15C}"/>
              </a:ext>
            </a:extLst>
          </p:cNvPr>
          <p:cNvSpPr txBox="1">
            <a:spLocks/>
          </p:cNvSpPr>
          <p:nvPr/>
        </p:nvSpPr>
        <p:spPr>
          <a:xfrm>
            <a:off x="290392" y="599720"/>
            <a:ext cx="11656795" cy="70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Work Progress : Software Development(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Contn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..)</a:t>
            </a:r>
          </a:p>
        </p:txBody>
      </p:sp>
    </p:spTree>
    <p:extLst>
      <p:ext uri="{BB962C8B-B14F-4D97-AF65-F5344CB8AC3E}">
        <p14:creationId xmlns:p14="http://schemas.microsoft.com/office/powerpoint/2010/main" val="2023529411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123748" y="-54788"/>
            <a:ext cx="10515600" cy="1314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sym typeface="Times New Roman"/>
              </a:rPr>
              <a:t>Work Progress : Software Development</a:t>
            </a:r>
            <a:endParaRPr b="1" dirty="0">
              <a:ea typeface="Calibri" panose="020F0502020204030204" pitchFamily="34" charset="0"/>
              <a:sym typeface="Times New Roman"/>
            </a:endParaRPr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255814" y="1270507"/>
            <a:ext cx="11669485" cy="48090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Flowchart</a:t>
            </a:r>
          </a:p>
          <a:p>
            <a:pPr marL="0" lvl="0" indent="0" algn="ctr" rtl="0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3200" b="1" u="sng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imes New Roman"/>
            </a:endParaRPr>
          </a:p>
          <a:p>
            <a:pPr marL="0" lvl="0" indent="0" algn="ctr" rtl="0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3200" b="1" u="sng" dirty="0">
              <a:solidFill>
                <a:schemeClr val="accent1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imes New Roman"/>
            </a:endParaRPr>
          </a:p>
        </p:txBody>
      </p:sp>
      <p:sp>
        <p:nvSpPr>
          <p:cNvPr id="171" name="Google Shape;171;p19"/>
          <p:cNvSpPr txBox="1">
            <a:spLocks noGrp="1"/>
          </p:cNvSpPr>
          <p:nvPr>
            <p:ph type="sldNum" idx="12"/>
          </p:nvPr>
        </p:nvSpPr>
        <p:spPr>
          <a:xfrm>
            <a:off x="9182099" y="6361889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3" y="6527326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D046D1-40EC-547F-DD50-703641692A15}"/>
              </a:ext>
            </a:extLst>
          </p:cNvPr>
          <p:cNvSpPr/>
          <p:nvPr/>
        </p:nvSpPr>
        <p:spPr>
          <a:xfrm>
            <a:off x="321908" y="1793490"/>
            <a:ext cx="2193077" cy="18241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Camera Capture</a:t>
            </a:r>
          </a:p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+</a:t>
            </a:r>
          </a:p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 Ultrasonic sensing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52AEEA-9695-1BDA-4633-4360BDAA0CEF}"/>
              </a:ext>
            </a:extLst>
          </p:cNvPr>
          <p:cNvSpPr/>
          <p:nvPr/>
        </p:nvSpPr>
        <p:spPr>
          <a:xfrm>
            <a:off x="3146156" y="2182244"/>
            <a:ext cx="2092866" cy="102732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Frame Preprocessing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56F1B6-DD47-7A47-A0A3-6ED18C6A2EDB}"/>
              </a:ext>
            </a:extLst>
          </p:cNvPr>
          <p:cNvSpPr/>
          <p:nvPr/>
        </p:nvSpPr>
        <p:spPr>
          <a:xfrm>
            <a:off x="5785015" y="1919823"/>
            <a:ext cx="1773716" cy="15521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TensorFlow Lite 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C0E28B-97DD-B3E0-76CE-AABB89D9B4E0}"/>
              </a:ext>
            </a:extLst>
          </p:cNvPr>
          <p:cNvSpPr/>
          <p:nvPr/>
        </p:nvSpPr>
        <p:spPr>
          <a:xfrm>
            <a:off x="8078215" y="2191889"/>
            <a:ext cx="1773716" cy="102732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Object Detection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52C169-4F3D-555B-36C4-25C5765A0085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2514985" y="2695905"/>
            <a:ext cx="631171" cy="96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79D81B-A2FA-C934-EE77-2327C331064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239022" y="2695905"/>
            <a:ext cx="5459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0DC480A-D525-E39A-B2FF-C9EDD4CD6CD0}"/>
              </a:ext>
            </a:extLst>
          </p:cNvPr>
          <p:cNvSpPr/>
          <p:nvPr/>
        </p:nvSpPr>
        <p:spPr>
          <a:xfrm>
            <a:off x="10399196" y="2191890"/>
            <a:ext cx="1669056" cy="10273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Bounding Box Filtering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BDF8D0-757E-8641-F76A-399CCB4C0ABF}"/>
              </a:ext>
            </a:extLst>
          </p:cNvPr>
          <p:cNvSpPr/>
          <p:nvPr/>
        </p:nvSpPr>
        <p:spPr>
          <a:xfrm>
            <a:off x="7442688" y="4034930"/>
            <a:ext cx="2020580" cy="10273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Distance Classification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0A5BE0-581F-99F8-4CB1-C1813AFE11E5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1233724" y="3219211"/>
            <a:ext cx="0" cy="7173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09DBE82-D01D-239D-0B79-FF11C70A3952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9851931" y="2705550"/>
            <a:ext cx="54726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C49340-7FCD-ADEB-CB1D-EE2C37D2859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558731" y="2695905"/>
            <a:ext cx="519484" cy="96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F02CBC8-C51A-1F58-8DB9-719E055922E9}"/>
              </a:ext>
            </a:extLst>
          </p:cNvPr>
          <p:cNvSpPr/>
          <p:nvPr/>
        </p:nvSpPr>
        <p:spPr>
          <a:xfrm>
            <a:off x="4950487" y="4037820"/>
            <a:ext cx="1669056" cy="10273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Direction Detection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1D956A-B908-B584-912A-E04E610A5E5D}"/>
              </a:ext>
            </a:extLst>
          </p:cNvPr>
          <p:cNvCxnSpPr>
            <a:cxnSpLocks/>
            <a:stCxn id="14" idx="1"/>
            <a:endCxn id="33" idx="3"/>
          </p:cNvCxnSpPr>
          <p:nvPr/>
        </p:nvCxnSpPr>
        <p:spPr>
          <a:xfrm flipH="1">
            <a:off x="6619543" y="4548591"/>
            <a:ext cx="823145" cy="28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5E392D6-7F5A-A7F9-03B3-A47F57938AA5}"/>
              </a:ext>
            </a:extLst>
          </p:cNvPr>
          <p:cNvSpPr/>
          <p:nvPr/>
        </p:nvSpPr>
        <p:spPr>
          <a:xfrm>
            <a:off x="10372286" y="4034930"/>
            <a:ext cx="1669056" cy="10273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Detection Voting System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ADA6748-1613-A1CD-DAE5-1D736274B8B6}"/>
              </a:ext>
            </a:extLst>
          </p:cNvPr>
          <p:cNvCxnSpPr>
            <a:cxnSpLocks/>
            <a:stCxn id="41" idx="1"/>
            <a:endCxn id="14" idx="3"/>
          </p:cNvCxnSpPr>
          <p:nvPr/>
        </p:nvCxnSpPr>
        <p:spPr>
          <a:xfrm flipH="1">
            <a:off x="9463268" y="4548591"/>
            <a:ext cx="9090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0F53D7B-1E71-4592-531D-304DE4984672}"/>
              </a:ext>
            </a:extLst>
          </p:cNvPr>
          <p:cNvSpPr/>
          <p:nvPr/>
        </p:nvSpPr>
        <p:spPr>
          <a:xfrm>
            <a:off x="543206" y="4034930"/>
            <a:ext cx="1669056" cy="10273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Audio Guidance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05BDD1-198D-4125-1A9C-C4B08BED7E52}"/>
              </a:ext>
            </a:extLst>
          </p:cNvPr>
          <p:cNvSpPr/>
          <p:nvPr/>
        </p:nvSpPr>
        <p:spPr>
          <a:xfrm>
            <a:off x="2753524" y="4037821"/>
            <a:ext cx="1669056" cy="10273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Text-To-Speech Output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AD86372-1B74-1C71-F818-AEBBA3A25FE1}"/>
              </a:ext>
            </a:extLst>
          </p:cNvPr>
          <p:cNvCxnSpPr>
            <a:cxnSpLocks/>
            <a:stCxn id="33" idx="1"/>
            <a:endCxn id="49" idx="3"/>
          </p:cNvCxnSpPr>
          <p:nvPr/>
        </p:nvCxnSpPr>
        <p:spPr>
          <a:xfrm flipH="1">
            <a:off x="4422580" y="4551481"/>
            <a:ext cx="52790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07D5221-12BC-EEDE-6E5B-5C231E51BED0}"/>
              </a:ext>
            </a:extLst>
          </p:cNvPr>
          <p:cNvCxnSpPr>
            <a:cxnSpLocks/>
            <a:stCxn id="49" idx="1"/>
            <a:endCxn id="48" idx="3"/>
          </p:cNvCxnSpPr>
          <p:nvPr/>
        </p:nvCxnSpPr>
        <p:spPr>
          <a:xfrm flipH="1" flipV="1">
            <a:off x="2212262" y="4548591"/>
            <a:ext cx="541262" cy="2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97334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123747" y="105156"/>
            <a:ext cx="11324545" cy="1314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ea typeface="Calibri" panose="020F0502020204030204" pitchFamily="34" charset="0"/>
                <a:sym typeface="Times New Roman"/>
              </a:rPr>
              <a:t>Work Progress : Model of Hardware Prototype</a:t>
            </a:r>
            <a:endParaRPr sz="3300" b="1" dirty="0">
              <a:ea typeface="Calibri" panose="020F0502020204030204" pitchFamily="34" charset="0"/>
              <a:sym typeface="Times New Roman"/>
            </a:endParaRPr>
          </a:p>
        </p:txBody>
      </p:sp>
      <p:sp>
        <p:nvSpPr>
          <p:cNvPr id="171" name="Google Shape;171;p1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3" y="6508276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3BD55-2453-4216-6EC0-B28AD2F36BC2}"/>
              </a:ext>
            </a:extLst>
          </p:cNvPr>
          <p:cNvSpPr txBox="1"/>
          <p:nvPr/>
        </p:nvSpPr>
        <p:spPr>
          <a:xfrm>
            <a:off x="5271796" y="3125755"/>
            <a:ext cx="824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Black" panose="020F0502020204030204" pitchFamily="34" charset="0"/>
              </a:rPr>
              <a:t>ATMEGA 328P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3C80B-8B1B-AF52-915C-B8638B7D4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628" y="1522490"/>
            <a:ext cx="7116335" cy="439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02163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0"/>
          <p:cNvSpPr txBox="1">
            <a:spLocks noGrp="1"/>
          </p:cNvSpPr>
          <p:nvPr>
            <p:ph type="ctrTitle"/>
          </p:nvPr>
        </p:nvSpPr>
        <p:spPr>
          <a:xfrm>
            <a:off x="-1446797" y="379388"/>
            <a:ext cx="9823938" cy="86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4800" b="1" dirty="0"/>
              <a:t>Total Cost of Prototype </a:t>
            </a:r>
            <a:endParaRPr sz="4800" b="1" dirty="0"/>
          </a:p>
        </p:txBody>
      </p:sp>
      <p:sp>
        <p:nvSpPr>
          <p:cNvPr id="372" name="Google Shape;372;p30"/>
          <p:cNvSpPr txBox="1">
            <a:spLocks noGrp="1"/>
          </p:cNvSpPr>
          <p:nvPr>
            <p:ph type="subTitle" idx="1"/>
          </p:nvPr>
        </p:nvSpPr>
        <p:spPr>
          <a:xfrm>
            <a:off x="672972" y="1442666"/>
            <a:ext cx="11085300" cy="46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60400" lvl="0" indent="-457200" algn="l">
              <a:buFont typeface="+mj-lt"/>
              <a:buAutoNum type="arabicPeriod"/>
            </a:pPr>
            <a:r>
              <a:rPr lang="en-IN" dirty="0"/>
              <a:t>Raspberry Pi 4 Model B (4GB) Rs:4500</a:t>
            </a:r>
          </a:p>
          <a:p>
            <a:pPr marL="660400" lvl="0" indent="-457200" algn="l">
              <a:buFont typeface="+mj-lt"/>
              <a:buAutoNum type="arabicPeriod"/>
            </a:pPr>
            <a:r>
              <a:rPr lang="en-IN" dirty="0"/>
              <a:t>Case with Cooling Fan Rs:670</a:t>
            </a:r>
          </a:p>
          <a:p>
            <a:pPr marL="660400" lvl="0" indent="-457200" algn="l">
              <a:buFont typeface="+mj-lt"/>
              <a:buAutoNum type="arabicPeriod"/>
            </a:pPr>
            <a:r>
              <a:rPr lang="en-IN" dirty="0"/>
              <a:t>HP USB Webcam Rs:800</a:t>
            </a:r>
          </a:p>
          <a:p>
            <a:pPr marL="660400" lvl="0" indent="-457200" algn="l">
              <a:buFont typeface="+mj-lt"/>
              <a:buAutoNum type="arabicPeriod"/>
            </a:pPr>
            <a:r>
              <a:rPr lang="en-IN" dirty="0"/>
              <a:t>Earphones Rs:450</a:t>
            </a:r>
          </a:p>
          <a:p>
            <a:pPr marL="660400" lvl="0" indent="-457200" algn="l">
              <a:buFont typeface="+mj-lt"/>
              <a:buAutoNum type="arabicPeriod"/>
            </a:pPr>
            <a:r>
              <a:rPr lang="en-IN" dirty="0"/>
              <a:t>Power Bank(2000mah) Rs:1500</a:t>
            </a:r>
          </a:p>
          <a:p>
            <a:pPr marL="660400" lvl="0" indent="-457200" algn="l">
              <a:buFont typeface="+mj-lt"/>
              <a:buAutoNum type="arabicPeriod"/>
            </a:pPr>
            <a:r>
              <a:rPr lang="en-IN" dirty="0"/>
              <a:t>Ultrasonic sensor Rs:120</a:t>
            </a:r>
          </a:p>
          <a:p>
            <a:pPr marL="660400" lvl="0" indent="-457200" algn="l">
              <a:buFont typeface="+mj-lt"/>
              <a:buAutoNum type="arabicPeriod"/>
            </a:pPr>
            <a:r>
              <a:rPr lang="en-US" dirty="0"/>
              <a:t>Resistors and wiring Rs:50</a:t>
            </a:r>
            <a:endParaRPr lang="en-IN" dirty="0"/>
          </a:p>
          <a:p>
            <a:pPr marL="203200" lvl="0" indent="0" algn="l"/>
            <a:endParaRPr lang="en-IN" dirty="0"/>
          </a:p>
          <a:p>
            <a:pPr marL="203200" lvl="0" indent="0" algn="l"/>
            <a:r>
              <a:rPr lang="en-IN" b="1" dirty="0"/>
              <a:t>Total Estimated Cost: 10,590</a:t>
            </a:r>
            <a:endParaRPr b="1" dirty="0"/>
          </a:p>
          <a:p>
            <a:pPr marL="5080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endParaRPr dirty="0"/>
          </a:p>
          <a:p>
            <a:pPr marL="50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sp>
        <p:nvSpPr>
          <p:cNvPr id="373" name="Google Shape;373;p30"/>
          <p:cNvSpPr/>
          <p:nvPr/>
        </p:nvSpPr>
        <p:spPr>
          <a:xfrm>
            <a:off x="0" y="6519446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15,093 Estimate Cost Royalty-Free Images, Stock Photos &amp; Pictures |  Shutterstock">
            <a:extLst>
              <a:ext uri="{FF2B5EF4-FFF2-40B4-BE49-F238E27FC236}">
                <a16:creationId xmlns:a16="http://schemas.microsoft.com/office/drawing/2014/main" id="{F0FEE905-AB55-AA4A-ACC2-C8D4C96B9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7231"/>
          <a:stretch>
            <a:fillRect/>
          </a:stretch>
        </p:blipFill>
        <p:spPr bwMode="auto">
          <a:xfrm>
            <a:off x="7950469" y="1770034"/>
            <a:ext cx="371475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C1CD1E-05C1-393C-1122-22E5089756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/>
              <a:t>    Member Roles</a:t>
            </a:r>
            <a:endParaRPr b="1" dirty="0"/>
          </a:p>
        </p:txBody>
      </p:sp>
      <p:sp>
        <p:nvSpPr>
          <p:cNvPr id="309" name="Google Shape;309;p27"/>
          <p:cNvSpPr txBox="1"/>
          <p:nvPr/>
        </p:nvSpPr>
        <p:spPr>
          <a:xfrm>
            <a:off x="342586" y="1651904"/>
            <a:ext cx="6264357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Member 1 </a:t>
            </a:r>
            <a:r>
              <a:rPr lang="en-US" sz="2200" b="1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(</a:t>
            </a:r>
            <a:r>
              <a:rPr lang="en-US" sz="2200" b="1" dirty="0" err="1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Afna</a:t>
            </a:r>
            <a:r>
              <a:rPr lang="en-US" sz="2200" b="1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A</a:t>
            </a:r>
            <a:r>
              <a:rPr lang="en-US" sz="2200" b="1" i="0" u="none" strike="noStrike" cap="none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)</a:t>
            </a:r>
            <a:endParaRPr sz="2200" dirty="0"/>
          </a:p>
          <a:p>
            <a:pPr lvl="0"/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Research on components and their                          specifications, implementation methods,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and literature review.</a:t>
            </a:r>
            <a:endParaRPr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Member 2 (Aswin S)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lvl="0"/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Coding and study of software components, 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hardware design, and system integration.</a:t>
            </a:r>
            <a:endParaRPr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6096000" y="1743650"/>
            <a:ext cx="5820697" cy="3462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Member 3 (Ebin Soyan Thomas)</a:t>
            </a:r>
            <a:endParaRPr sz="2200" dirty="0"/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sz="2200" b="1" i="0" u="none" strike="noStrike" cap="none" dirty="0">
              <a:solidFill>
                <a:srgbClr val="1E4E7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lvl="1">
              <a:lnSpc>
                <a:spcPct val="90000"/>
              </a:lnSpc>
              <a:spcBef>
                <a:spcPts val="330"/>
              </a:spcBef>
              <a:buSzPts val="2200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Dataset collection, coding of software components, and literature review.</a:t>
            </a:r>
          </a:p>
          <a:p>
            <a:pPr lvl="1">
              <a:lnSpc>
                <a:spcPct val="90000"/>
              </a:lnSpc>
              <a:spcBef>
                <a:spcPts val="330"/>
              </a:spcBef>
              <a:buSzPts val="2200"/>
            </a:pPr>
            <a:endParaRPr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200" b="1" i="0" u="none" strike="noStrike" cap="none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Member 4 (</a:t>
            </a:r>
            <a:r>
              <a:rPr lang="en-US" sz="2200" b="1" dirty="0" err="1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Juliya</a:t>
            </a:r>
            <a:r>
              <a:rPr lang="en-US" sz="2200" b="1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Augustine</a:t>
            </a:r>
            <a:r>
              <a:rPr lang="en-US" sz="2200" b="1" i="0" u="none" strike="noStrike" cap="none" dirty="0">
                <a:solidFill>
                  <a:srgbClr val="1E4E7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)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lvl="1">
              <a:lnSpc>
                <a:spcPct val="90000"/>
              </a:lnSpc>
              <a:spcBef>
                <a:spcPts val="330"/>
              </a:spcBef>
              <a:buSzPts val="2200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Dataset collection, system setup and </a:t>
            </a:r>
          </a:p>
          <a:p>
            <a:pPr lvl="1">
              <a:lnSpc>
                <a:spcPct val="90000"/>
              </a:lnSpc>
              <a:spcBef>
                <a:spcPts val="330"/>
              </a:spcBef>
              <a:buSzPts val="2200"/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installation, documentation, and literature review.</a:t>
            </a:r>
            <a:endParaRPr sz="2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3" y="6527940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9BBF15-6D85-8B1E-13A7-D6AFEFC478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>
            <a:spLocks noGrp="1"/>
          </p:cNvSpPr>
          <p:nvPr>
            <p:ph type="title"/>
          </p:nvPr>
        </p:nvSpPr>
        <p:spPr>
          <a:xfrm>
            <a:off x="751429" y="105156"/>
            <a:ext cx="4944198" cy="9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800" b="1" dirty="0"/>
              <a:t>Challenges </a:t>
            </a:r>
            <a:endParaRPr sz="4800" b="1" dirty="0"/>
          </a:p>
        </p:txBody>
      </p:sp>
      <p:sp>
        <p:nvSpPr>
          <p:cNvPr id="311" name="Google Shape;311;p27"/>
          <p:cNvSpPr/>
          <p:nvPr/>
        </p:nvSpPr>
        <p:spPr>
          <a:xfrm>
            <a:off x="3" y="6527940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6F171E-4A5F-12FE-D800-956786431590}"/>
              </a:ext>
            </a:extLst>
          </p:cNvPr>
          <p:cNvSpPr txBox="1"/>
          <p:nvPr/>
        </p:nvSpPr>
        <p:spPr>
          <a:xfrm>
            <a:off x="507779" y="1093375"/>
            <a:ext cx="94886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Integration</a:t>
            </a:r>
          </a:p>
          <a:p>
            <a:pPr>
              <a:buSzPct val="101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Voltage compatibility handling using resistor divider circuit.</a:t>
            </a:r>
          </a:p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Stability</a:t>
            </a:r>
          </a:p>
          <a:p>
            <a:pPr>
              <a:buSzPct val="101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Reducing false detections in dynamic environments.</a:t>
            </a:r>
          </a:p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Optimization</a:t>
            </a:r>
          </a:p>
          <a:p>
            <a:pPr>
              <a:buSzPct val="101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Balancing FPS and inference speed on Raspberry Pi 4.</a:t>
            </a:r>
          </a:p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Prototype Design</a:t>
            </a:r>
          </a:p>
          <a:p>
            <a:pPr>
              <a:buSzPct val="101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Maintaining portability and user comfort.</a:t>
            </a:r>
          </a:p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1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Synchronization</a:t>
            </a:r>
          </a:p>
          <a:p>
            <a:pPr>
              <a:buSzPct val="101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Combining ultrasonic sensing and AI inference efficiently.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B305B7-A977-2138-22B0-F14F68B8C3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777065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>
            <a:spLocks noGrp="1"/>
          </p:cNvSpPr>
          <p:nvPr>
            <p:ph type="title"/>
          </p:nvPr>
        </p:nvSpPr>
        <p:spPr>
          <a:xfrm>
            <a:off x="309728" y="274589"/>
            <a:ext cx="10515600" cy="80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ea typeface="Calibri" panose="020F0502020204030204" pitchFamily="34" charset="0"/>
                <a:sym typeface="Times New Roman"/>
              </a:rPr>
              <a:t>          </a:t>
            </a:r>
            <a:r>
              <a:rPr lang="en-US" b="1" u="sng" dirty="0">
                <a:ea typeface="Calibri" panose="020F0502020204030204" pitchFamily="34" charset="0"/>
                <a:sym typeface="Times New Roman"/>
              </a:rPr>
              <a:t>TIMELINE</a:t>
            </a:r>
            <a:endParaRPr b="1" u="sng" dirty="0">
              <a:ea typeface="Calibri" panose="020F0502020204030204" pitchFamily="34" charset="0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733" b="1" dirty="0">
                <a:ea typeface="Calibri" panose="020F0502020204030204" pitchFamily="34" charset="0"/>
                <a:sym typeface="Times New Roman"/>
              </a:rPr>
              <a:t> </a:t>
            </a:r>
            <a:r>
              <a:rPr lang="en-US" sz="3733" b="1" u="sng" dirty="0">
                <a:ea typeface="Calibri" panose="020F0502020204030204" pitchFamily="34" charset="0"/>
                <a:sym typeface="Times New Roman"/>
              </a:rPr>
              <a:t>PHASE - 1</a:t>
            </a:r>
            <a:endParaRPr sz="3733" b="1" u="sng" dirty="0">
              <a:ea typeface="Calibri" panose="020F0502020204030204" pitchFamily="34" charset="0"/>
              <a:sym typeface="Times New Roman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3" y="6548622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1698CD-5A61-FA1E-5AEF-247A0672A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138070"/>
              </p:ext>
            </p:extLst>
          </p:nvPr>
        </p:nvGraphicFramePr>
        <p:xfrm>
          <a:off x="309728" y="1368437"/>
          <a:ext cx="11422555" cy="50992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{BDBED569-4797-4DF1-A0F4-6AAB3CD982D8}</a:tableStyleId>
              </a:tblPr>
              <a:tblGrid>
                <a:gridCol w="2278555">
                  <a:extLst>
                    <a:ext uri="{9D8B030D-6E8A-4147-A177-3AD203B41FA5}">
                      <a16:colId xmlns:a16="http://schemas.microsoft.com/office/drawing/2014/main" val="28192191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796977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94124417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74931396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84909479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44716139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62383981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3594659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99478345"/>
                    </a:ext>
                  </a:extLst>
                </a:gridCol>
              </a:tblGrid>
              <a:tr h="710136"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 marL="365760" marT="27432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1824643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 FINALISATION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089130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REFERANCE PAPER COLLECTION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1355266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93961995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74793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COLLECTION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8722037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6992793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RUNNING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6894325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 flip="none" rotWithShape="1">
                      <a:gsLst>
                        <a:gs pos="0">
                          <a:schemeClr val="tx2">
                            <a:lumMod val="2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2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25000"/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29627853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C9B688-9B5D-14CC-F531-E2CFEF8B80EB}"/>
              </a:ext>
            </a:extLst>
          </p:cNvPr>
          <p:cNvCxnSpPr/>
          <p:nvPr/>
        </p:nvCxnSpPr>
        <p:spPr>
          <a:xfrm>
            <a:off x="309728" y="1425128"/>
            <a:ext cx="2276668" cy="69979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B4E44F-8AF1-4F64-E1B7-9D9DD0901070}"/>
              </a:ext>
            </a:extLst>
          </p:cNvPr>
          <p:cNvSpPr txBox="1"/>
          <p:nvPr/>
        </p:nvSpPr>
        <p:spPr>
          <a:xfrm>
            <a:off x="1533383" y="1398924"/>
            <a:ext cx="1315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621F01-2444-645F-628F-A17F086F5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53240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/>
          <p:nvPr/>
        </p:nvSpPr>
        <p:spPr>
          <a:xfrm>
            <a:off x="3" y="6537772"/>
            <a:ext cx="7684389" cy="338862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447600" y="1157662"/>
            <a:ext cx="117444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3700" b="1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PHASE - 2</a:t>
            </a:r>
            <a:endParaRPr sz="3700" b="1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277" name="Google Shape;277;p26"/>
          <p:cNvGrpSpPr/>
          <p:nvPr/>
        </p:nvGrpSpPr>
        <p:grpSpPr>
          <a:xfrm>
            <a:off x="3298468" y="2459158"/>
            <a:ext cx="2725132" cy="3903536"/>
            <a:chOff x="2528100" y="1431525"/>
            <a:chExt cx="2043900" cy="2927725"/>
          </a:xfrm>
        </p:grpSpPr>
        <p:sp>
          <p:nvSpPr>
            <p:cNvPr id="278" name="Google Shape;278;p26"/>
            <p:cNvSpPr/>
            <p:nvPr/>
          </p:nvSpPr>
          <p:spPr>
            <a:xfrm>
              <a:off x="2528100" y="1431550"/>
              <a:ext cx="2043900" cy="2927700"/>
            </a:xfrm>
            <a:prstGeom prst="rect">
              <a:avLst/>
            </a:prstGeom>
            <a:noFill/>
            <a:ln w="9525" cap="flat" cmpd="sng">
              <a:solidFill>
                <a:srgbClr val="0C5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 rot="10800000" flipH="1">
              <a:off x="2528100" y="1431525"/>
              <a:ext cx="2043900" cy="1269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6"/>
            <p:cNvSpPr txBox="1"/>
            <p:nvPr/>
          </p:nvSpPr>
          <p:spPr>
            <a:xfrm>
              <a:off x="2528111" y="1558426"/>
              <a:ext cx="1325700" cy="79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lang="en-US" sz="5600" b="1" dirty="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5600" b="1" i="0" u="none" strike="noStrike" cap="none" dirty="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1" name="Google Shape;281;p26"/>
            <p:cNvCxnSpPr/>
            <p:nvPr/>
          </p:nvCxnSpPr>
          <p:spPr>
            <a:xfrm rot="10800000">
              <a:off x="3041575" y="2507000"/>
              <a:ext cx="0" cy="1848300"/>
            </a:xfrm>
            <a:prstGeom prst="straightConnector1">
              <a:avLst/>
            </a:prstGeom>
            <a:noFill/>
            <a:ln w="9525" cap="flat" cmpd="sng">
              <a:solidFill>
                <a:srgbClr val="0C58D3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282" name="Google Shape;282;p26"/>
            <p:cNvCxnSpPr/>
            <p:nvPr/>
          </p:nvCxnSpPr>
          <p:spPr>
            <a:xfrm rot="10800000">
              <a:off x="3552287" y="2507000"/>
              <a:ext cx="0" cy="1848300"/>
            </a:xfrm>
            <a:prstGeom prst="straightConnector1">
              <a:avLst/>
            </a:prstGeom>
            <a:noFill/>
            <a:ln w="9525" cap="flat" cmpd="sng">
              <a:solidFill>
                <a:srgbClr val="0C58D3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283" name="Google Shape;283;p26"/>
            <p:cNvCxnSpPr/>
            <p:nvPr/>
          </p:nvCxnSpPr>
          <p:spPr>
            <a:xfrm rot="10800000">
              <a:off x="4063000" y="2507000"/>
              <a:ext cx="0" cy="1848300"/>
            </a:xfrm>
            <a:prstGeom prst="straightConnector1">
              <a:avLst/>
            </a:prstGeom>
            <a:noFill/>
            <a:ln w="9525" cap="flat" cmpd="sng">
              <a:solidFill>
                <a:srgbClr val="0C58D3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grpSp>
        <p:nvGrpSpPr>
          <p:cNvPr id="284" name="Google Shape;284;p26"/>
          <p:cNvGrpSpPr/>
          <p:nvPr/>
        </p:nvGrpSpPr>
        <p:grpSpPr>
          <a:xfrm>
            <a:off x="573219" y="2459158"/>
            <a:ext cx="2725132" cy="3903536"/>
            <a:chOff x="3975900" y="1431525"/>
            <a:chExt cx="2043900" cy="2927725"/>
          </a:xfrm>
        </p:grpSpPr>
        <p:sp>
          <p:nvSpPr>
            <p:cNvPr id="285" name="Google Shape;285;p26"/>
            <p:cNvSpPr/>
            <p:nvPr/>
          </p:nvSpPr>
          <p:spPr>
            <a:xfrm>
              <a:off x="3975900" y="1431550"/>
              <a:ext cx="2043900" cy="2927700"/>
            </a:xfrm>
            <a:prstGeom prst="rect">
              <a:avLst/>
            </a:prstGeom>
            <a:noFill/>
            <a:ln w="9525" cap="flat" cmpd="sng">
              <a:solidFill>
                <a:srgbClr val="0944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6"/>
            <p:cNvSpPr/>
            <p:nvPr/>
          </p:nvSpPr>
          <p:spPr>
            <a:xfrm rot="10800000" flipH="1">
              <a:off x="3975900" y="1431525"/>
              <a:ext cx="2043900" cy="126900"/>
            </a:xfrm>
            <a:prstGeom prst="rect">
              <a:avLst/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6"/>
            <p:cNvSpPr txBox="1"/>
            <p:nvPr/>
          </p:nvSpPr>
          <p:spPr>
            <a:xfrm>
              <a:off x="3975909" y="1558426"/>
              <a:ext cx="1223100" cy="79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lang="en-US" sz="5600" b="1" dirty="0">
                  <a:solidFill>
                    <a:srgbClr val="0944A1"/>
                  </a:solidFill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5600" b="1" i="0" u="none" strike="noStrike" cap="none" dirty="0">
                <a:solidFill>
                  <a:srgbClr val="0944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8" name="Google Shape;288;p26"/>
            <p:cNvCxnSpPr/>
            <p:nvPr/>
          </p:nvCxnSpPr>
          <p:spPr>
            <a:xfrm rot="10800000">
              <a:off x="4489375" y="2507000"/>
              <a:ext cx="0" cy="1848300"/>
            </a:xfrm>
            <a:prstGeom prst="straightConnector1">
              <a:avLst/>
            </a:prstGeom>
            <a:noFill/>
            <a:ln w="9525" cap="flat" cmpd="sng">
              <a:solidFill>
                <a:srgbClr val="0944A1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289" name="Google Shape;289;p26"/>
            <p:cNvCxnSpPr/>
            <p:nvPr/>
          </p:nvCxnSpPr>
          <p:spPr>
            <a:xfrm rot="10800000">
              <a:off x="5000087" y="2507000"/>
              <a:ext cx="0" cy="1848300"/>
            </a:xfrm>
            <a:prstGeom prst="straightConnector1">
              <a:avLst/>
            </a:prstGeom>
            <a:noFill/>
            <a:ln w="9525" cap="flat" cmpd="sng">
              <a:solidFill>
                <a:srgbClr val="0944A1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290" name="Google Shape;290;p26"/>
            <p:cNvCxnSpPr/>
            <p:nvPr/>
          </p:nvCxnSpPr>
          <p:spPr>
            <a:xfrm rot="10800000">
              <a:off x="5510800" y="2507000"/>
              <a:ext cx="0" cy="1848300"/>
            </a:xfrm>
            <a:prstGeom prst="straightConnector1">
              <a:avLst/>
            </a:prstGeom>
            <a:noFill/>
            <a:ln w="9525" cap="flat" cmpd="sng">
              <a:solidFill>
                <a:srgbClr val="0944A1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sp>
        <p:nvSpPr>
          <p:cNvPr id="291" name="Google Shape;291;p26"/>
          <p:cNvSpPr/>
          <p:nvPr/>
        </p:nvSpPr>
        <p:spPr>
          <a:xfrm>
            <a:off x="1223658" y="4136973"/>
            <a:ext cx="4087199" cy="276300"/>
          </a:xfrm>
          <a:prstGeom prst="rect">
            <a:avLst/>
          </a:prstGeom>
          <a:solidFill>
            <a:srgbClr val="0944A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Completion of training model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1928694" y="4638936"/>
            <a:ext cx="4087200" cy="276300"/>
          </a:xfrm>
          <a:prstGeom prst="rect">
            <a:avLst/>
          </a:prstGeom>
          <a:solidFill>
            <a:srgbClr val="0944A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Prototype design</a:t>
            </a:r>
            <a:endParaRPr sz="15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6015894" y="5740650"/>
            <a:ext cx="2725200" cy="276300"/>
          </a:xfrm>
          <a:prstGeom prst="rect">
            <a:avLst/>
          </a:prstGeom>
          <a:solidFill>
            <a:srgbClr val="0E65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testing and running</a:t>
            </a:r>
            <a:endParaRPr sz="1400" b="0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4664975" y="5069908"/>
            <a:ext cx="4087200" cy="276300"/>
          </a:xfrm>
          <a:prstGeom prst="rect">
            <a:avLst/>
          </a:prstGeom>
          <a:solidFill>
            <a:srgbClr val="0C58D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Integration of hardware and software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2203990" y="4296158"/>
            <a:ext cx="88500" cy="768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3589090" y="4296158"/>
            <a:ext cx="88500" cy="768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26"/>
          <p:cNvGrpSpPr/>
          <p:nvPr/>
        </p:nvGrpSpPr>
        <p:grpSpPr>
          <a:xfrm>
            <a:off x="6024066" y="2459158"/>
            <a:ext cx="2725132" cy="3903536"/>
            <a:chOff x="4572350" y="1431525"/>
            <a:chExt cx="2043900" cy="2927725"/>
          </a:xfrm>
        </p:grpSpPr>
        <p:sp>
          <p:nvSpPr>
            <p:cNvPr id="298" name="Google Shape;298;p26"/>
            <p:cNvSpPr/>
            <p:nvPr/>
          </p:nvSpPr>
          <p:spPr>
            <a:xfrm>
              <a:off x="4572350" y="1431550"/>
              <a:ext cx="2043900" cy="2927700"/>
            </a:xfrm>
            <a:prstGeom prst="rect">
              <a:avLst/>
            </a:prstGeom>
            <a:noFill/>
            <a:ln w="9525" cap="flat" cmpd="sng">
              <a:solidFill>
                <a:srgbClr val="0D5DD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6"/>
            <p:cNvSpPr/>
            <p:nvPr/>
          </p:nvSpPr>
          <p:spPr>
            <a:xfrm rot="10800000" flipH="1">
              <a:off x="4572350" y="1431525"/>
              <a:ext cx="2043900" cy="1269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6"/>
            <p:cNvSpPr txBox="1"/>
            <p:nvPr/>
          </p:nvSpPr>
          <p:spPr>
            <a:xfrm>
              <a:off x="4572361" y="1558426"/>
              <a:ext cx="1326050" cy="79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Arial"/>
                <a:buNone/>
              </a:pPr>
              <a:r>
                <a:rPr lang="en-US" sz="5600" b="1" dirty="0">
                  <a:solidFill>
                    <a:srgbClr val="0D5DDF"/>
                  </a:solidFill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5600" b="1" i="0" u="none" strike="noStrike" cap="none" dirty="0">
                <a:solidFill>
                  <a:srgbClr val="0D5D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1" name="Google Shape;301;p26"/>
            <p:cNvCxnSpPr/>
            <p:nvPr/>
          </p:nvCxnSpPr>
          <p:spPr>
            <a:xfrm rot="10800000">
              <a:off x="5085825" y="2506700"/>
              <a:ext cx="0" cy="18486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302" name="Google Shape;302;p26"/>
            <p:cNvCxnSpPr/>
            <p:nvPr/>
          </p:nvCxnSpPr>
          <p:spPr>
            <a:xfrm rot="10800000">
              <a:off x="5596537" y="2506700"/>
              <a:ext cx="0" cy="18486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303" name="Google Shape;303;p26"/>
            <p:cNvCxnSpPr/>
            <p:nvPr/>
          </p:nvCxnSpPr>
          <p:spPr>
            <a:xfrm rot="10800000">
              <a:off x="6107250" y="2506700"/>
              <a:ext cx="0" cy="18486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sp>
        <p:nvSpPr>
          <p:cNvPr id="2" name="Google Shape;258;p25">
            <a:extLst>
              <a:ext uri="{FF2B5EF4-FFF2-40B4-BE49-F238E27FC236}">
                <a16:creationId xmlns:a16="http://schemas.microsoft.com/office/drawing/2014/main" id="{C3769E47-B2B1-D660-B719-D03F645D71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30576" y="-83273"/>
            <a:ext cx="11351049" cy="14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>
                <a:ea typeface="Calibri" panose="020F0502020204030204" pitchFamily="34" charset="0"/>
                <a:sym typeface="Times New Roman"/>
              </a:rPr>
              <a:t>          </a:t>
            </a:r>
            <a:r>
              <a:rPr lang="en-US" b="1" u="sng" dirty="0">
                <a:ea typeface="Calibri" panose="020F0502020204030204" pitchFamily="34" charset="0"/>
                <a:sym typeface="Times New Roman"/>
              </a:rPr>
              <a:t>TIMELINE</a:t>
            </a:r>
            <a:endParaRPr b="1" u="sng" dirty="0">
              <a:ea typeface="Calibri" panose="020F0502020204030204" pitchFamily="34" charset="0"/>
              <a:sym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FFFE42-1EE6-BE1A-6522-95F9F237E2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/>
          <p:nvPr/>
        </p:nvSpPr>
        <p:spPr>
          <a:xfrm>
            <a:off x="3" y="6537772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2"/>
          <p:cNvSpPr txBox="1">
            <a:spLocks noGrp="1"/>
          </p:cNvSpPr>
          <p:nvPr>
            <p:ph type="title"/>
          </p:nvPr>
        </p:nvSpPr>
        <p:spPr>
          <a:xfrm>
            <a:off x="515335" y="105156"/>
            <a:ext cx="7838226" cy="109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5400" b="1" dirty="0"/>
              <a:t>Conclusion</a:t>
            </a:r>
            <a:endParaRPr sz="5400" b="1" dirty="0"/>
          </a:p>
        </p:txBody>
      </p:sp>
      <p:sp>
        <p:nvSpPr>
          <p:cNvPr id="393" name="Google Shape;393;p32"/>
          <p:cNvSpPr txBox="1">
            <a:spLocks noGrp="1"/>
          </p:cNvSpPr>
          <p:nvPr>
            <p:ph type="body" idx="1"/>
          </p:nvPr>
        </p:nvSpPr>
        <p:spPr>
          <a:xfrm>
            <a:off x="293397" y="1023726"/>
            <a:ext cx="1138326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  <a:sym typeface="Times New Roman"/>
              </a:rPr>
              <a:t>The proposed system successfully integrates Embedded AI, Computer Vision, and Sensor Fusion techniques to assist visually impaired users in real-time navigation.</a:t>
            </a:r>
          </a:p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endParaRPr lang="en-US" sz="2000" dirty="0">
              <a:ea typeface="Calibri" panose="020F0502020204030204" pitchFamily="34" charset="0"/>
              <a:sym typeface="Times New Roman"/>
            </a:endParaRPr>
          </a:p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  <a:sym typeface="Times New Roman"/>
              </a:rPr>
              <a:t>By combining TensorFlow Lite object detection with ultrasonic distance sensing, the system provides reliable obstacle identification along with practical distance awareness.</a:t>
            </a:r>
          </a:p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endParaRPr lang="en-US" sz="2000" dirty="0">
              <a:ea typeface="Calibri" panose="020F0502020204030204" pitchFamily="34" charset="0"/>
              <a:sym typeface="Times New Roman"/>
            </a:endParaRPr>
          </a:p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  <a:sym typeface="Times New Roman"/>
              </a:rPr>
              <a:t>The implementation of temporal voting, direction-aware guidance, and optimized real-time inference significantly improves detection stability and user experience.</a:t>
            </a:r>
          </a:p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endParaRPr lang="en-US" sz="2000" dirty="0">
              <a:ea typeface="Calibri" panose="020F0502020204030204" pitchFamily="34" charset="0"/>
              <a:sym typeface="Times New Roman"/>
            </a:endParaRPr>
          </a:p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  <a:sym typeface="Times New Roman"/>
              </a:rPr>
              <a:t>Lightweight optimization techniques enable efficient deployment on Raspberry Pi 4 hardware, making the system portable, low-cost, and suitable for real-world assistive applications.</a:t>
            </a:r>
          </a:p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endParaRPr lang="en-US" sz="2000" dirty="0">
              <a:ea typeface="Calibri" panose="020F0502020204030204" pitchFamily="34" charset="0"/>
              <a:sym typeface="Times New Roman"/>
            </a:endParaRPr>
          </a:p>
          <a:p>
            <a:pPr marL="520702">
              <a:lnSpc>
                <a:spcPct val="100000"/>
              </a:lnSpc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  <a:sym typeface="Times New Roman"/>
              </a:rPr>
              <a:t>The project demonstrates how Edge AI and embedded systems can enhance independent mobility, safety, and environmental awareness for visually impaired individuals.</a:t>
            </a:r>
            <a:endParaRPr sz="2000" dirty="0">
              <a:ea typeface="Calibri" panose="020F0502020204030204" pitchFamily="34" charset="0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B27EAC-EAC1-9ED9-D608-786589C5D4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595168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"/>
          <p:cNvSpPr/>
          <p:nvPr/>
        </p:nvSpPr>
        <p:spPr>
          <a:xfrm>
            <a:off x="3" y="6508276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>
            <a:spLocks noGrp="1"/>
          </p:cNvSpPr>
          <p:nvPr>
            <p:ph type="title"/>
          </p:nvPr>
        </p:nvSpPr>
        <p:spPr>
          <a:xfrm>
            <a:off x="729712" y="320395"/>
            <a:ext cx="6105041" cy="98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5400" b="1" dirty="0"/>
              <a:t>References</a:t>
            </a:r>
            <a:endParaRPr sz="5400" b="1" dirty="0"/>
          </a:p>
        </p:txBody>
      </p:sp>
      <p:sp>
        <p:nvSpPr>
          <p:cNvPr id="402" name="Google Shape;402;p33"/>
          <p:cNvSpPr txBox="1">
            <a:spLocks noGrp="1"/>
          </p:cNvSpPr>
          <p:nvPr>
            <p:ph type="body" idx="1"/>
          </p:nvPr>
        </p:nvSpPr>
        <p:spPr>
          <a:xfrm>
            <a:off x="404248" y="1889762"/>
            <a:ext cx="10622796" cy="379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just">
              <a:buNone/>
            </a:pPr>
            <a:r>
              <a:rPr lang="en-IN" sz="2400" dirty="0"/>
              <a:t>[1] Howard, Andrew G., et al. </a:t>
            </a:r>
            <a:r>
              <a:rPr lang="en-IN" sz="2400" i="1" dirty="0"/>
              <a:t>“MobileNets: Efficient Convolutional Neural   Networks for Mobile Vision Applications.”</a:t>
            </a:r>
            <a:r>
              <a:rPr lang="en-IN" sz="2400" dirty="0"/>
              <a:t> 2017.</a:t>
            </a:r>
          </a:p>
          <a:p>
            <a:pPr marL="114300" indent="0" algn="just">
              <a:buNone/>
            </a:pPr>
            <a:r>
              <a:rPr lang="en-IN" sz="2400" dirty="0"/>
              <a:t>[2] TensorFlow Team. </a:t>
            </a:r>
            <a:r>
              <a:rPr lang="en-IN" sz="2400" i="1" dirty="0"/>
              <a:t>“TensorFlow Lite for Mobile and Embedded            Devices.”</a:t>
            </a:r>
            <a:r>
              <a:rPr lang="en-IN" sz="2400" dirty="0"/>
              <a:t> Google Developers, 2023.</a:t>
            </a:r>
          </a:p>
          <a:p>
            <a:pPr marL="114300" indent="0" algn="just">
              <a:buNone/>
            </a:pPr>
            <a:r>
              <a:rPr lang="en-IN" sz="2400" dirty="0"/>
              <a:t>[3] OpenCV Organization. </a:t>
            </a:r>
            <a:r>
              <a:rPr lang="en-IN" sz="2400" i="1" dirty="0"/>
              <a:t>“Open Source Computer Vision Library.”</a:t>
            </a:r>
            <a:r>
              <a:rPr lang="en-IN" sz="2400" dirty="0"/>
              <a:t> https://opencv.org/</a:t>
            </a:r>
          </a:p>
          <a:p>
            <a:pPr marL="114300" indent="0" algn="just">
              <a:buNone/>
            </a:pPr>
            <a:r>
              <a:rPr lang="en-IN" sz="2400" dirty="0"/>
              <a:t>[4] Raspberry Pi Foundation. </a:t>
            </a:r>
            <a:r>
              <a:rPr lang="en-IN" sz="2400" i="1" dirty="0"/>
              <a:t>“Raspberry Pi 4 Model B Documentation.”</a:t>
            </a:r>
            <a:r>
              <a:rPr lang="en-IN" sz="2400" dirty="0"/>
              <a:t> 2023.</a:t>
            </a:r>
          </a:p>
          <a:p>
            <a:pPr marL="114300" indent="0" algn="just">
              <a:buNone/>
            </a:pPr>
            <a:r>
              <a:rPr lang="en-IN" sz="2400" dirty="0"/>
              <a:t>[5] </a:t>
            </a:r>
            <a:r>
              <a:rPr lang="en-IN" sz="2400" dirty="0" err="1"/>
              <a:t>eSpeak</a:t>
            </a:r>
            <a:r>
              <a:rPr lang="en-IN" sz="2400" dirty="0"/>
              <a:t> NG Developers. </a:t>
            </a:r>
            <a:r>
              <a:rPr lang="en-IN" sz="2400" i="1" dirty="0"/>
              <a:t>“</a:t>
            </a:r>
            <a:r>
              <a:rPr lang="en-IN" sz="2400" i="1" dirty="0" err="1"/>
              <a:t>eSpeak</a:t>
            </a:r>
            <a:r>
              <a:rPr lang="en-IN" sz="2400" i="1" dirty="0"/>
              <a:t> NG Text-to-Speech System.”</a:t>
            </a:r>
            <a:r>
              <a:rPr lang="en-IN" sz="2400" dirty="0"/>
              <a:t> https://github.com/espeak-ng/espeak-ng</a:t>
            </a:r>
          </a:p>
          <a:p>
            <a:pPr marL="228594" lvl="0" indent="-50791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endParaRPr sz="2400" dirty="0"/>
          </a:p>
          <a:p>
            <a:pPr marL="228594" lvl="0" indent="-507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endParaRPr dirty="0"/>
          </a:p>
          <a:p>
            <a:pPr marL="228594" lvl="0" indent="-507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endParaRPr dirty="0"/>
          </a:p>
          <a:p>
            <a:pPr marL="228594" lvl="0" indent="-507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A10F36-007E-5AB2-4D06-64276995B5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"/>
          <p:cNvSpPr/>
          <p:nvPr/>
        </p:nvSpPr>
        <p:spPr>
          <a:xfrm>
            <a:off x="3" y="6508276"/>
            <a:ext cx="7686676" cy="338554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8293" y="105156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4"/>
          <p:cNvSpPr txBox="1">
            <a:spLocks noGrp="1"/>
          </p:cNvSpPr>
          <p:nvPr>
            <p:ph type="body" idx="1"/>
          </p:nvPr>
        </p:nvSpPr>
        <p:spPr>
          <a:xfrm>
            <a:off x="493207" y="1147670"/>
            <a:ext cx="11575045" cy="5259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5079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594" lvl="0" indent="-507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594" lvl="0" indent="-507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594" lvl="0" indent="-507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594" lvl="0" indent="-507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594" lvl="0" indent="-507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411" name="Google Shape;41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9850" y="1402908"/>
            <a:ext cx="9161757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C056B2-05AE-D1AA-5A83-F8EDB46299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4381</TotalTime>
  <Words>1329</Words>
  <Application>Microsoft Office PowerPoint</Application>
  <PresentationFormat>Widescreen</PresentationFormat>
  <Paragraphs>298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ADLaM Display</vt:lpstr>
      <vt:lpstr>Aptos Black</vt:lpstr>
      <vt:lpstr>Arial</vt:lpstr>
      <vt:lpstr>Calibri</vt:lpstr>
      <vt:lpstr>Gill Sans</vt:lpstr>
      <vt:lpstr>Noto Sans Symbols</vt:lpstr>
      <vt:lpstr>Quattrocento Sans</vt:lpstr>
      <vt:lpstr>Roboto</vt:lpstr>
      <vt:lpstr>Times New Roman</vt:lpstr>
      <vt:lpstr>Wingdings</vt:lpstr>
      <vt:lpstr>Office Theme</vt:lpstr>
      <vt:lpstr>END SEMESTER B.TECH  MINI PROJECT  FINAL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Components Used</vt:lpstr>
      <vt:lpstr>Components Used (Contn..)</vt:lpstr>
      <vt:lpstr>PowerPoint Presentation</vt:lpstr>
      <vt:lpstr>Circuit Diagram</vt:lpstr>
      <vt:lpstr>Work Progress : Software Development</vt:lpstr>
      <vt:lpstr>PowerPoint Presentation</vt:lpstr>
      <vt:lpstr>Work Progress : Software Development</vt:lpstr>
      <vt:lpstr>Work Progress : Model of Hardware Prototype</vt:lpstr>
      <vt:lpstr>Total Cost of Prototype </vt:lpstr>
      <vt:lpstr>    Member Roles</vt:lpstr>
      <vt:lpstr>Challenges </vt:lpstr>
      <vt:lpstr>          TIMELINE  PHASE - 1</vt:lpstr>
      <vt:lpstr>          TIMELINE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 PROJECT PHASE 1 INTERIM EVALUATION</dc:title>
  <dc:creator>Ronald Roy</dc:creator>
  <cp:lastModifiedBy>JULIYA AUGUSTINE</cp:lastModifiedBy>
  <cp:revision>46</cp:revision>
  <dcterms:modified xsi:type="dcterms:W3CDTF">2026-05-13T15:55:49Z</dcterms:modified>
</cp:coreProperties>
</file>